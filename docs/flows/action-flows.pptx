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①은 현재 Traces 가 다루는 FIX 흐름. ②③은 DSP 진입 신규 흐름으로, DSP 는 CUBE 와 마찬가지로 I/F 만 하고 적재하지 않는다. AI GATEWAY 는 CUBE BOT 과 같은 형상. ② Judge 는 GAIA 가 MCP 를 여러 번 호출하고 ONEOIS 로 내려가지 않는다. ③ 은 GAIA 가 A2A 로 ER MAP 을 호출한다.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BD5E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AI Action 트랜잭션 흐름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기존 FIX 흐름 + 신규 2종(Judge · ER MAP) — Traces 반영 전 정리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요청 흐름 3종</a:t>
            </a:r>
            <a:endParaRPr lang="en-US" sz="2800" dirty="0"/>
          </a:p>
        </p:txBody>
      </p:sp>
      <p:sp>
        <p:nvSpPr>
          <p:cNvPr id="3" name="① FIX label bg"/>
          <p:cNvSpPr/>
          <p:nvPr/>
        </p:nvSpPr>
        <p:spPr>
          <a:xfrm>
            <a:off x="457200" y="1417320"/>
            <a:ext cx="1600200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173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① FIX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기존</a:t>
            </a:r>
            <a:endParaRPr lang="en-US" sz="1500" dirty="0"/>
          </a:p>
        </p:txBody>
      </p:sp>
      <p:sp>
        <p:nvSpPr>
          <p:cNvPr id="5" name="① FIX CUBE"/>
          <p:cNvSpPr/>
          <p:nvPr/>
        </p:nvSpPr>
        <p:spPr>
          <a:xfrm>
            <a:off x="2514600" y="1417320"/>
            <a:ext cx="14630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2514600" y="1417320"/>
            <a:ext cx="1463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</a:rPr>
              <a:t>CUBE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메신저 I/F</a:t>
            </a:r>
            <a:endParaRPr lang="en-US" sz="1400" dirty="0"/>
          </a:p>
        </p:txBody>
      </p:sp>
      <p:sp>
        <p:nvSpPr>
          <p:cNvPr id="7" name="① FIX CUBE BOT"/>
          <p:cNvSpPr/>
          <p:nvPr/>
        </p:nvSpPr>
        <p:spPr>
          <a:xfrm>
            <a:off x="4434840" y="1417320"/>
            <a:ext cx="1463040" cy="777240"/>
          </a:xfrm>
          <a:prstGeom prst="roundRect">
            <a:avLst>
              <a:gd name="adj" fmla="val 14118"/>
            </a:avLst>
          </a:prstGeom>
          <a:solidFill>
            <a:srgbClr val="4B6BFB"/>
          </a:solidFill>
          <a:ln w="12700">
            <a:solidFill>
              <a:srgbClr val="4B6BFB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34840" y="1417320"/>
            <a:ext cx="1463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CUBE BOT</a:t>
            </a:r>
            <a:endParaRPr lang="en-US" sz="1400" dirty="0"/>
          </a:p>
        </p:txBody>
      </p:sp>
      <p:sp>
        <p:nvSpPr>
          <p:cNvPr id="9" name="① FIX CUBE BOT DB"/>
          <p:cNvSpPr/>
          <p:nvPr/>
        </p:nvSpPr>
        <p:spPr>
          <a:xfrm>
            <a:off x="4974336" y="2286000"/>
            <a:ext cx="384048" cy="329184"/>
          </a:xfrm>
          <a:prstGeom prst="can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① FIX arrow 1"/>
          <p:cNvSpPr/>
          <p:nvPr/>
        </p:nvSpPr>
        <p:spPr>
          <a:xfrm>
            <a:off x="4014216" y="1805940"/>
            <a:ext cx="384048" cy="0"/>
          </a:xfrm>
          <a:prstGeom prst="line">
            <a:avLst/>
          </a:prstGeom>
          <a:noFill/>
          <a:ln w="2222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1" name="① FIX GAIA"/>
          <p:cNvSpPr/>
          <p:nvPr/>
        </p:nvSpPr>
        <p:spPr>
          <a:xfrm>
            <a:off x="6355080" y="1417320"/>
            <a:ext cx="1463040" cy="777240"/>
          </a:xfrm>
          <a:prstGeom prst="roundRect">
            <a:avLst>
              <a:gd name="adj" fmla="val 14118"/>
            </a:avLst>
          </a:prstGeom>
          <a:solidFill>
            <a:srgbClr val="A21CAF"/>
          </a:solidFill>
          <a:ln w="12700">
            <a:solidFill>
              <a:srgbClr val="A21CAF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55080" y="1417320"/>
            <a:ext cx="1463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GAIA</a:t>
            </a:r>
            <a:endParaRPr lang="en-US" sz="1400" dirty="0"/>
          </a:p>
        </p:txBody>
      </p:sp>
      <p:sp>
        <p:nvSpPr>
          <p:cNvPr id="13" name="① FIX GAIA DB"/>
          <p:cNvSpPr/>
          <p:nvPr/>
        </p:nvSpPr>
        <p:spPr>
          <a:xfrm>
            <a:off x="6894576" y="2286000"/>
            <a:ext cx="384048" cy="329184"/>
          </a:xfrm>
          <a:prstGeom prst="can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① FIX arrow 2"/>
          <p:cNvSpPr/>
          <p:nvPr/>
        </p:nvSpPr>
        <p:spPr>
          <a:xfrm>
            <a:off x="5934456" y="1805940"/>
            <a:ext cx="384048" cy="0"/>
          </a:xfrm>
          <a:prstGeom prst="line">
            <a:avLst/>
          </a:prstGeom>
          <a:noFill/>
          <a:ln w="2222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5" name="① FIX MCP"/>
          <p:cNvSpPr/>
          <p:nvPr/>
        </p:nvSpPr>
        <p:spPr>
          <a:xfrm>
            <a:off x="8275320" y="1417320"/>
            <a:ext cx="1463040" cy="777240"/>
          </a:xfrm>
          <a:prstGeom prst="roundRect">
            <a:avLst>
              <a:gd name="adj" fmla="val 1411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75320" y="1417320"/>
            <a:ext cx="1463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MCP</a:t>
            </a:r>
            <a:endParaRPr lang="en-US" sz="1400" dirty="0"/>
          </a:p>
        </p:txBody>
      </p:sp>
      <p:sp>
        <p:nvSpPr>
          <p:cNvPr id="17" name="① FIX MCP DB"/>
          <p:cNvSpPr/>
          <p:nvPr/>
        </p:nvSpPr>
        <p:spPr>
          <a:xfrm>
            <a:off x="8814816" y="2286000"/>
            <a:ext cx="384048" cy="329184"/>
          </a:xfrm>
          <a:prstGeom prst="can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① FIX arrow 3 #1"/>
          <p:cNvSpPr/>
          <p:nvPr/>
        </p:nvSpPr>
        <p:spPr>
          <a:xfrm>
            <a:off x="7854696" y="1751076"/>
            <a:ext cx="384048" cy="0"/>
          </a:xfrm>
          <a:prstGeom prst="line">
            <a:avLst/>
          </a:prstGeom>
          <a:noFill/>
          <a:ln w="2222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9" name="① FIX arrow 3 #2"/>
          <p:cNvSpPr/>
          <p:nvPr/>
        </p:nvSpPr>
        <p:spPr>
          <a:xfrm>
            <a:off x="7854696" y="1860804"/>
            <a:ext cx="384048" cy="0"/>
          </a:xfrm>
          <a:prstGeom prst="line">
            <a:avLst/>
          </a:prstGeom>
          <a:noFill/>
          <a:ln w="2222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7763256" y="14036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1~N회</a:t>
            </a:r>
            <a:endParaRPr lang="en-US" sz="1000" dirty="0"/>
          </a:p>
        </p:txBody>
      </p:sp>
      <p:sp>
        <p:nvSpPr>
          <p:cNvPr id="21" name="① FIX ONEOIS"/>
          <p:cNvSpPr/>
          <p:nvPr/>
        </p:nvSpPr>
        <p:spPr>
          <a:xfrm>
            <a:off x="10195560" y="1417320"/>
            <a:ext cx="1463040" cy="777240"/>
          </a:xfrm>
          <a:prstGeom prst="roundRect">
            <a:avLst>
              <a:gd name="adj" fmla="val 1411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195560" y="1417320"/>
            <a:ext cx="1463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ONEOIS</a:t>
            </a:r>
            <a:endParaRPr lang="en-US" sz="1400" dirty="0"/>
          </a:p>
        </p:txBody>
      </p:sp>
      <p:sp>
        <p:nvSpPr>
          <p:cNvPr id="23" name="① FIX ONEOIS DB"/>
          <p:cNvSpPr/>
          <p:nvPr/>
        </p:nvSpPr>
        <p:spPr>
          <a:xfrm>
            <a:off x="10735056" y="2286000"/>
            <a:ext cx="384048" cy="329184"/>
          </a:xfrm>
          <a:prstGeom prst="can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① FIX arrow 4"/>
          <p:cNvSpPr/>
          <p:nvPr/>
        </p:nvSpPr>
        <p:spPr>
          <a:xfrm>
            <a:off x="9774936" y="1805940"/>
            <a:ext cx="384048" cy="0"/>
          </a:xfrm>
          <a:prstGeom prst="line">
            <a:avLst/>
          </a:prstGeom>
          <a:noFill/>
          <a:ln w="2222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5" name="② Judge label bg"/>
          <p:cNvSpPr/>
          <p:nvPr/>
        </p:nvSpPr>
        <p:spPr>
          <a:xfrm>
            <a:off x="457200" y="3063240"/>
            <a:ext cx="1600200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30632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21CAF"/>
                </a:solidFill>
              </a:rPr>
              <a:t>② Judge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신규</a:t>
            </a:r>
            <a:endParaRPr lang="en-US" sz="1500" dirty="0"/>
          </a:p>
        </p:txBody>
      </p:sp>
      <p:sp>
        <p:nvSpPr>
          <p:cNvPr id="27" name="② Judge DSP"/>
          <p:cNvSpPr/>
          <p:nvPr/>
        </p:nvSpPr>
        <p:spPr>
          <a:xfrm>
            <a:off x="2514600" y="3063240"/>
            <a:ext cx="14630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2514600" y="3063240"/>
            <a:ext cx="1463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</a:rPr>
              <a:t>DSP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I/F only</a:t>
            </a:r>
            <a:endParaRPr lang="en-US" sz="1400" dirty="0"/>
          </a:p>
        </p:txBody>
      </p:sp>
      <p:sp>
        <p:nvSpPr>
          <p:cNvPr id="29" name="② Judge AI GATEWAY"/>
          <p:cNvSpPr/>
          <p:nvPr/>
        </p:nvSpPr>
        <p:spPr>
          <a:xfrm>
            <a:off x="4434840" y="3063240"/>
            <a:ext cx="1463040" cy="777240"/>
          </a:xfrm>
          <a:prstGeom prst="roundRect">
            <a:avLst>
              <a:gd name="adj" fmla="val 14118"/>
            </a:avLst>
          </a:prstGeom>
          <a:solidFill>
            <a:srgbClr val="4B6BFB"/>
          </a:solidFill>
          <a:ln w="12700">
            <a:solidFill>
              <a:srgbClr val="4B6BFB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1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4434840" y="3063240"/>
            <a:ext cx="1463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GATEWAY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CUBE BOT 동일 형상</a:t>
            </a:r>
            <a:endParaRPr lang="en-US" sz="1400" dirty="0"/>
          </a:p>
        </p:txBody>
      </p:sp>
      <p:sp>
        <p:nvSpPr>
          <p:cNvPr id="31" name="② Judge AI GATEWAY DB"/>
          <p:cNvSpPr/>
          <p:nvPr/>
        </p:nvSpPr>
        <p:spPr>
          <a:xfrm>
            <a:off x="4974336" y="3931920"/>
            <a:ext cx="384048" cy="329184"/>
          </a:xfrm>
          <a:prstGeom prst="can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② Judge arrow 1"/>
          <p:cNvSpPr/>
          <p:nvPr/>
        </p:nvSpPr>
        <p:spPr>
          <a:xfrm>
            <a:off x="4014216" y="3451860"/>
            <a:ext cx="384048" cy="0"/>
          </a:xfrm>
          <a:prstGeom prst="line">
            <a:avLst/>
          </a:prstGeom>
          <a:noFill/>
          <a:ln w="2222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3" name="② Judge GAIA"/>
          <p:cNvSpPr/>
          <p:nvPr/>
        </p:nvSpPr>
        <p:spPr>
          <a:xfrm>
            <a:off x="6355080" y="3063240"/>
            <a:ext cx="1463040" cy="777240"/>
          </a:xfrm>
          <a:prstGeom prst="roundRect">
            <a:avLst>
              <a:gd name="adj" fmla="val 14118"/>
            </a:avLst>
          </a:prstGeom>
          <a:solidFill>
            <a:srgbClr val="A21CAF"/>
          </a:solidFill>
          <a:ln w="12700">
            <a:solidFill>
              <a:srgbClr val="A21CAF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1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355080" y="3063240"/>
            <a:ext cx="1463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GAIA</a:t>
            </a:r>
            <a:endParaRPr lang="en-US" sz="1400" dirty="0"/>
          </a:p>
        </p:txBody>
      </p:sp>
      <p:sp>
        <p:nvSpPr>
          <p:cNvPr id="35" name="② Judge GAIA DB"/>
          <p:cNvSpPr/>
          <p:nvPr/>
        </p:nvSpPr>
        <p:spPr>
          <a:xfrm>
            <a:off x="6894576" y="3931920"/>
            <a:ext cx="384048" cy="329184"/>
          </a:xfrm>
          <a:prstGeom prst="can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② Judge arrow 2"/>
          <p:cNvSpPr/>
          <p:nvPr/>
        </p:nvSpPr>
        <p:spPr>
          <a:xfrm>
            <a:off x="5934456" y="3451860"/>
            <a:ext cx="384048" cy="0"/>
          </a:xfrm>
          <a:prstGeom prst="line">
            <a:avLst/>
          </a:prstGeom>
          <a:noFill/>
          <a:ln w="2222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7" name="② Judge MCP"/>
          <p:cNvSpPr/>
          <p:nvPr/>
        </p:nvSpPr>
        <p:spPr>
          <a:xfrm>
            <a:off x="8275320" y="3063240"/>
            <a:ext cx="1463040" cy="777240"/>
          </a:xfrm>
          <a:prstGeom prst="roundRect">
            <a:avLst>
              <a:gd name="adj" fmla="val 1411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1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8275320" y="3063240"/>
            <a:ext cx="1463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MCP</a:t>
            </a:r>
            <a:endParaRPr lang="en-US" sz="1400" dirty="0"/>
          </a:p>
        </p:txBody>
      </p:sp>
      <p:sp>
        <p:nvSpPr>
          <p:cNvPr id="39" name="② Judge MCP DB"/>
          <p:cNvSpPr/>
          <p:nvPr/>
        </p:nvSpPr>
        <p:spPr>
          <a:xfrm>
            <a:off x="8814816" y="3931920"/>
            <a:ext cx="384048" cy="329184"/>
          </a:xfrm>
          <a:prstGeom prst="can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0" name="② Judge arrow 3 #1"/>
          <p:cNvSpPr/>
          <p:nvPr/>
        </p:nvSpPr>
        <p:spPr>
          <a:xfrm>
            <a:off x="7854696" y="3342132"/>
            <a:ext cx="384048" cy="0"/>
          </a:xfrm>
          <a:prstGeom prst="line">
            <a:avLst/>
          </a:prstGeom>
          <a:noFill/>
          <a:ln w="2222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1" name="② Judge arrow 3 #2"/>
          <p:cNvSpPr/>
          <p:nvPr/>
        </p:nvSpPr>
        <p:spPr>
          <a:xfrm>
            <a:off x="7854696" y="3451860"/>
            <a:ext cx="384048" cy="0"/>
          </a:xfrm>
          <a:prstGeom prst="line">
            <a:avLst/>
          </a:prstGeom>
          <a:noFill/>
          <a:ln w="2222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2" name="② Judge arrow 3 #3"/>
          <p:cNvSpPr/>
          <p:nvPr/>
        </p:nvSpPr>
        <p:spPr>
          <a:xfrm>
            <a:off x="7854696" y="3561588"/>
            <a:ext cx="384048" cy="0"/>
          </a:xfrm>
          <a:prstGeom prst="line">
            <a:avLst/>
          </a:prstGeom>
          <a:noFill/>
          <a:ln w="2222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7763256" y="299466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N회</a:t>
            </a:r>
            <a:endParaRPr lang="en-US" sz="1000" dirty="0"/>
          </a:p>
        </p:txBody>
      </p:sp>
      <p:sp>
        <p:nvSpPr>
          <p:cNvPr id="44" name="③ ER MAP label bg"/>
          <p:cNvSpPr/>
          <p:nvPr/>
        </p:nvSpPr>
        <p:spPr>
          <a:xfrm>
            <a:off x="457200" y="4709160"/>
            <a:ext cx="1600200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94360" y="47091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</a:rPr>
              <a:t>③ ER MAP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신규</a:t>
            </a:r>
            <a:endParaRPr lang="en-US" sz="1500" dirty="0"/>
          </a:p>
        </p:txBody>
      </p:sp>
      <p:sp>
        <p:nvSpPr>
          <p:cNvPr id="46" name="③ ER MAP DSP"/>
          <p:cNvSpPr/>
          <p:nvPr/>
        </p:nvSpPr>
        <p:spPr>
          <a:xfrm>
            <a:off x="2514600" y="4709160"/>
            <a:ext cx="14630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47" name="Text 45"/>
          <p:cNvSpPr txBox="1"/>
          <p:nvPr/>
        </p:nvSpPr>
        <p:spPr>
          <a:xfrm>
            <a:off x="2514600" y="4709160"/>
            <a:ext cx="1463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</a:rPr>
              <a:t>DSP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I/F only</a:t>
            </a:r>
            <a:endParaRPr lang="en-US" sz="1400" dirty="0"/>
          </a:p>
        </p:txBody>
      </p:sp>
      <p:sp>
        <p:nvSpPr>
          <p:cNvPr id="48" name="③ ER MAP AI GATEWAY"/>
          <p:cNvSpPr/>
          <p:nvPr/>
        </p:nvSpPr>
        <p:spPr>
          <a:xfrm>
            <a:off x="4434840" y="4709160"/>
            <a:ext cx="1463040" cy="777240"/>
          </a:xfrm>
          <a:prstGeom prst="roundRect">
            <a:avLst>
              <a:gd name="adj" fmla="val 14118"/>
            </a:avLst>
          </a:prstGeom>
          <a:solidFill>
            <a:srgbClr val="4B6BFB"/>
          </a:solidFill>
          <a:ln w="12700">
            <a:solidFill>
              <a:srgbClr val="4B6BFB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18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4434840" y="4709160"/>
            <a:ext cx="1463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GATEWAY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CUBE BOT 동일 형상</a:t>
            </a:r>
            <a:endParaRPr lang="en-US" sz="1400" dirty="0"/>
          </a:p>
        </p:txBody>
      </p:sp>
      <p:sp>
        <p:nvSpPr>
          <p:cNvPr id="50" name="③ ER MAP AI GATEWAY DB"/>
          <p:cNvSpPr/>
          <p:nvPr/>
        </p:nvSpPr>
        <p:spPr>
          <a:xfrm>
            <a:off x="4974336" y="5577840"/>
            <a:ext cx="384048" cy="329184"/>
          </a:xfrm>
          <a:prstGeom prst="can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1" name="③ ER MAP arrow 1"/>
          <p:cNvSpPr/>
          <p:nvPr/>
        </p:nvSpPr>
        <p:spPr>
          <a:xfrm>
            <a:off x="4014216" y="5097780"/>
            <a:ext cx="384048" cy="0"/>
          </a:xfrm>
          <a:prstGeom prst="line">
            <a:avLst/>
          </a:prstGeom>
          <a:noFill/>
          <a:ln w="2222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52" name="③ ER MAP GAIA"/>
          <p:cNvSpPr/>
          <p:nvPr/>
        </p:nvSpPr>
        <p:spPr>
          <a:xfrm>
            <a:off x="6355080" y="4709160"/>
            <a:ext cx="1463040" cy="777240"/>
          </a:xfrm>
          <a:prstGeom prst="roundRect">
            <a:avLst>
              <a:gd name="adj" fmla="val 14118"/>
            </a:avLst>
          </a:prstGeom>
          <a:solidFill>
            <a:srgbClr val="A21CAF"/>
          </a:solidFill>
          <a:ln w="12700">
            <a:solidFill>
              <a:srgbClr val="A21CAF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18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6355080" y="4709160"/>
            <a:ext cx="1463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GAIA</a:t>
            </a:r>
            <a:endParaRPr lang="en-US" sz="1400" dirty="0"/>
          </a:p>
        </p:txBody>
      </p:sp>
      <p:sp>
        <p:nvSpPr>
          <p:cNvPr id="54" name="③ ER MAP GAIA DB"/>
          <p:cNvSpPr/>
          <p:nvPr/>
        </p:nvSpPr>
        <p:spPr>
          <a:xfrm>
            <a:off x="6894576" y="5577840"/>
            <a:ext cx="384048" cy="329184"/>
          </a:xfrm>
          <a:prstGeom prst="can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5" name="③ ER MAP arrow 2"/>
          <p:cNvSpPr/>
          <p:nvPr/>
        </p:nvSpPr>
        <p:spPr>
          <a:xfrm>
            <a:off x="5934456" y="5097780"/>
            <a:ext cx="384048" cy="0"/>
          </a:xfrm>
          <a:prstGeom prst="line">
            <a:avLst/>
          </a:prstGeom>
          <a:noFill/>
          <a:ln w="2222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56" name="③ ER MAP A2A"/>
          <p:cNvSpPr/>
          <p:nvPr/>
        </p:nvSpPr>
        <p:spPr>
          <a:xfrm>
            <a:off x="8275320" y="4709160"/>
            <a:ext cx="1463040" cy="777240"/>
          </a:xfrm>
          <a:prstGeom prst="roundRect">
            <a:avLst>
              <a:gd name="adj" fmla="val 1411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dash"/>
          </a:ln>
          <a:effectLst>
            <a:outerShdw sx="100000" sy="100000" kx="0" ky="0" algn="bl" rotWithShape="0" blurRad="50800" dist="25400" dir="5400000">
              <a:srgbClr val="0F172A">
                <a:alpha val="18000"/>
              </a:srgbClr>
            </a:outerShdw>
          </a:effectLst>
        </p:spPr>
      </p:sp>
      <p:sp>
        <p:nvSpPr>
          <p:cNvPr id="57" name="Text 55"/>
          <p:cNvSpPr txBox="1"/>
          <p:nvPr/>
        </p:nvSpPr>
        <p:spPr>
          <a:xfrm>
            <a:off x="8275320" y="4709160"/>
            <a:ext cx="1463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A2A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ER MAP 호출</a:t>
            </a:r>
            <a:endParaRPr lang="en-US" sz="1400" dirty="0"/>
          </a:p>
        </p:txBody>
      </p:sp>
      <p:sp>
        <p:nvSpPr>
          <p:cNvPr id="58" name="③ ER MAP A2A DB"/>
          <p:cNvSpPr/>
          <p:nvPr/>
        </p:nvSpPr>
        <p:spPr>
          <a:xfrm>
            <a:off x="8814816" y="5577840"/>
            <a:ext cx="384048" cy="329184"/>
          </a:xfrm>
          <a:prstGeom prst="can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dash"/>
          </a:ln>
        </p:spPr>
      </p:sp>
      <p:sp>
        <p:nvSpPr>
          <p:cNvPr id="59" name="Text 57"/>
          <p:cNvSpPr txBox="1"/>
          <p:nvPr/>
        </p:nvSpPr>
        <p:spPr>
          <a:xfrm>
            <a:off x="8814816" y="561441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?</a:t>
            </a:r>
            <a:endParaRPr lang="en-US" sz="1200" dirty="0"/>
          </a:p>
        </p:txBody>
      </p:sp>
      <p:sp>
        <p:nvSpPr>
          <p:cNvPr id="60" name="③ ER MAP arrow 3"/>
          <p:cNvSpPr/>
          <p:nvPr/>
        </p:nvSpPr>
        <p:spPr>
          <a:xfrm>
            <a:off x="7854696" y="5097780"/>
            <a:ext cx="384048" cy="0"/>
          </a:xfrm>
          <a:prstGeom prst="line">
            <a:avLst/>
          </a:prstGeom>
          <a:noFill/>
          <a:ln w="2222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1" name="legend if"/>
          <p:cNvSpPr/>
          <p:nvPr/>
        </p:nvSpPr>
        <p:spPr>
          <a:xfrm>
            <a:off x="2514600" y="6172200"/>
            <a:ext cx="38404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62" name="Text 60"/>
          <p:cNvSpPr txBox="1"/>
          <p:nvPr/>
        </p:nvSpPr>
        <p:spPr>
          <a:xfrm>
            <a:off x="2971800" y="61539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I/F 전달만 (미적재)</a:t>
            </a:r>
            <a:endParaRPr lang="en-US" sz="1000" dirty="0"/>
          </a:p>
        </p:txBody>
      </p:sp>
      <p:sp>
        <p:nvSpPr>
          <p:cNvPr id="63" name="legend store"/>
          <p:cNvSpPr/>
          <p:nvPr/>
        </p:nvSpPr>
        <p:spPr>
          <a:xfrm>
            <a:off x="4846320" y="6144768"/>
            <a:ext cx="292608" cy="292608"/>
          </a:xfrm>
          <a:prstGeom prst="can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212080" y="6153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BIZ_AIACTIONTXN_HIS 적재</a:t>
            </a:r>
            <a:endParaRPr lang="en-US" sz="1000" dirty="0"/>
          </a:p>
        </p:txBody>
      </p:sp>
      <p:sp>
        <p:nvSpPr>
          <p:cNvPr id="65" name="legend tbd"/>
          <p:cNvSpPr/>
          <p:nvPr/>
        </p:nvSpPr>
        <p:spPr>
          <a:xfrm>
            <a:off x="7498080" y="6144768"/>
            <a:ext cx="292608" cy="292608"/>
          </a:xfrm>
          <a:prstGeom prst="can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dash"/>
          </a:ln>
        </p:spPr>
      </p:sp>
      <p:sp>
        <p:nvSpPr>
          <p:cNvPr id="66" name="Text 64"/>
          <p:cNvSpPr txBox="1"/>
          <p:nvPr/>
        </p:nvSpPr>
        <p:spPr>
          <a:xfrm>
            <a:off x="7863840" y="61539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적재 여부 확인 필요</a:t>
            </a:r>
            <a:endParaRPr lang="en-US" sz="1000" dirty="0"/>
          </a:p>
        </p:txBody>
      </p:sp>
      <p:sp>
        <p:nvSpPr>
          <p:cNvPr id="67" name="legend multi 1"/>
          <p:cNvSpPr/>
          <p:nvPr/>
        </p:nvSpPr>
        <p:spPr>
          <a:xfrm>
            <a:off x="9692640" y="6263640"/>
            <a:ext cx="457200" cy="0"/>
          </a:xfrm>
          <a:prstGeom prst="line">
            <a:avLst/>
          </a:prstGeom>
          <a:noFill/>
          <a:ln w="2222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8" name="legend multi 2"/>
          <p:cNvSpPr/>
          <p:nvPr/>
        </p:nvSpPr>
        <p:spPr>
          <a:xfrm>
            <a:off x="9692640" y="6373368"/>
            <a:ext cx="457200" cy="0"/>
          </a:xfrm>
          <a:prstGeom prst="line">
            <a:avLst/>
          </a:prstGeom>
          <a:noFill/>
          <a:ln w="2222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9" name="Text 67"/>
          <p:cNvSpPr txBox="1"/>
          <p:nvPr/>
        </p:nvSpPr>
        <p:spPr>
          <a:xfrm>
            <a:off x="10241280" y="6153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다중 호출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흐름별 거치는 레이어 · 적재</a:t>
            </a:r>
            <a:endParaRPr lang="en-US" sz="2800" dirty="0"/>
          </a:p>
        </p:txBody>
      </p:sp>
      <p:graphicFrame>
        <p:nvGraphicFramePr>
          <p:cNvPr id="4" name="layer 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926080"/>
                <a:gridCol w="2926080"/>
                <a:gridCol w="29260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레이어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① FIX (기존)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② Judge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1C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③ ER MAP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진입 I/F</a:t>
                      </a:r>
                      <a:endParaRPr lang="en-US" sz="13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CUBE / DSP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</a:rPr>
                        <a:t>CUBE · I/F only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</a:rPr>
                        <a:t>DSP · I/F only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</a:rPr>
                        <a:t>DSP · I/F only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진입 봇</a:t>
                      </a:r>
                      <a:endParaRPr lang="en-US" sz="13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CUBE BOT / AI GATEWAY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</a:rPr>
                        <a:t>CUBE BOT · ● 적재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</a:rPr>
                        <a:t>AI GATEWAY · ● 적재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</a:rPr>
                        <a:t>AI GATEWAY · ● 적재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GAIA</a:t>
                      </a:r>
                      <a:endParaRPr lang="en-US" sz="13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+ TRX_TOKEN_DET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</a:rPr>
                        <a:t>● 적재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</a:rPr>
                        <a:t>● 적재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</a:rPr>
                        <a:t>● 적재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MCP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</a:rPr>
                        <a:t>● 적재 (1~N행)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</a:rPr>
                        <a:t>● 적재 (N행)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ONEOIS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</a:rPr>
                        <a:t>● 적재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A2A / ER MAP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</a:rPr>
                        <a:t>? 확인 필요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matrix note bg"/>
          <p:cNvSpPr/>
          <p:nvPr/>
        </p:nvSpPr>
        <p:spPr>
          <a:xfrm>
            <a:off x="457200" y="5486400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5486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6BFB"/>
                </a:solidFill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AI GATEWAY 는 CUBE BOT 과 같은 형상이라 기존 최상위 레이어 자리에 들어간다. 흐름마다 끝단이 다르다 — ONEOIS / MCP / A2A.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Traces 반영 전 확인 필요</a:t>
            </a:r>
            <a:endParaRPr lang="en-US" sz="2800" dirty="0"/>
          </a:p>
        </p:txBody>
      </p:sp>
      <p:sp>
        <p:nvSpPr>
          <p:cNvPr id="3" name="q1 badge"/>
          <p:cNvSpPr/>
          <p:nvPr/>
        </p:nvSpPr>
        <p:spPr>
          <a:xfrm>
            <a:off x="502920" y="1371600"/>
            <a:ext cx="457200" cy="457200"/>
          </a:xfrm>
          <a:prstGeom prst="ellipse">
            <a:avLst/>
          </a:prstGeom>
          <a:solidFill>
            <a:srgbClr val="4B6BFB"/>
          </a:solidFill>
          <a:ln w="12700">
            <a:solidFill>
              <a:srgbClr val="4B6B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280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AI GATEWAY 적재 위치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280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CUBE BOT 과 같은 DB·테이블인가, 별도 DB 인가? 같다면 행에서 진입 경로(CUBE/DSP)를 무엇으로 구분하나 — CHANNEL_ID?</a:t>
            </a:r>
            <a:endParaRPr lang="en-US" sz="1300" dirty="0"/>
          </a:p>
        </p:txBody>
      </p:sp>
      <p:sp>
        <p:nvSpPr>
          <p:cNvPr id="7" name="q2 badge"/>
          <p:cNvSpPr/>
          <p:nvPr/>
        </p:nvSpPr>
        <p:spPr>
          <a:xfrm>
            <a:off x="502920" y="2286000"/>
            <a:ext cx="457200" cy="457200"/>
          </a:xfrm>
          <a:prstGeom prst="ellipse">
            <a:avLst/>
          </a:prstGeom>
          <a:solidFill>
            <a:srgbClr val="4B6BFB"/>
          </a:solidFill>
          <a:ln w="12700">
            <a:solidFill>
              <a:srgbClr val="4B6B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194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Judge 의 ACTION_TYP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21945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현재 문서상 judge 는 TRX_TOKEN_DET 에만 남는 비액션 흐름. 이제 BIZ_AIACTIONTXN_HIS 에 적재되며 ACTION_TYP 값이 생기나?</a:t>
            </a:r>
            <a:endParaRPr lang="en-US" sz="1300" dirty="0"/>
          </a:p>
        </p:txBody>
      </p:sp>
      <p:sp>
        <p:nvSpPr>
          <p:cNvPr id="11" name="q3 badge"/>
          <p:cNvSpPr/>
          <p:nvPr/>
        </p:nvSpPr>
        <p:spPr>
          <a:xfrm>
            <a:off x="502920" y="3200400"/>
            <a:ext cx="457200" cy="457200"/>
          </a:xfrm>
          <a:prstGeom prst="ellipse">
            <a:avLst/>
          </a:prstGeom>
          <a:solidFill>
            <a:srgbClr val="4B6BFB"/>
          </a:solidFill>
          <a:ln w="12700">
            <a:solidFill>
              <a:srgbClr val="4B6B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108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A2A / ER MAP 적재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31089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A2A 쪽에 자체 BIZ_AIACTIONTXN_HIS 가 있나, 아니면 GAIA 행(SEND_SYS_ID=A2A)으로만 보이나?</a:t>
            </a:r>
            <a:endParaRPr lang="en-US" sz="1300" dirty="0"/>
          </a:p>
        </p:txBody>
      </p:sp>
      <p:sp>
        <p:nvSpPr>
          <p:cNvPr id="15" name="q4 badge"/>
          <p:cNvSpPr/>
          <p:nvPr/>
        </p:nvSpPr>
        <p:spPr>
          <a:xfrm>
            <a:off x="502920" y="4114800"/>
            <a:ext cx="457200" cy="457200"/>
          </a:xfrm>
          <a:prstGeom prst="ellipse">
            <a:avLst/>
          </a:prstGeom>
          <a:solidFill>
            <a:srgbClr val="4B6BFB"/>
          </a:solidFill>
          <a:ln w="12700">
            <a:solidFill>
              <a:srgbClr val="4B6B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023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TRACE_ID 생성 주체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40233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DSP 진입 시 TRACE_ID 를 누가 만들고 GAIA · MCP · A2A 까지 그대로 전파되나?</a:t>
            </a:r>
            <a:endParaRPr lang="en-US" sz="1300" dirty="0"/>
          </a:p>
        </p:txBody>
      </p:sp>
      <p:sp>
        <p:nvSpPr>
          <p:cNvPr id="19" name="q5 badge"/>
          <p:cNvSpPr/>
          <p:nvPr/>
        </p:nvSpPr>
        <p:spPr>
          <a:xfrm>
            <a:off x="502920" y="5029200"/>
            <a:ext cx="457200" cy="457200"/>
          </a:xfrm>
          <a:prstGeom prst="ellipse">
            <a:avLst/>
          </a:prstGeom>
          <a:solidFill>
            <a:srgbClr val="4B6BFB"/>
          </a:solidFill>
          <a:ln w="12700">
            <a:solidFill>
              <a:srgbClr val="4B6B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937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흐름 종단 판정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49377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Judge 는 MCP, ER MAP 은 A2A 가 끝단 — 'ONEOIS 미도달 = 미완료' 로 보는 상태 판정을 흐름별로 나눠야 한다.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aceX Flows">
  <a:themeElements>
    <a:clrScheme name="TraceX Flows">
      <a:dk1>
        <a:srgbClr val="0F172A"/>
      </a:dk1>
      <a:lt1>
        <a:srgbClr val="FFFFFF"/>
      </a:lt1>
      <a:dk2>
        <a:srgbClr val="475569"/>
      </a:dk2>
      <a:lt2>
        <a:srgbClr val="F1F5F9"/>
      </a:lt2>
      <a:accent1>
        <a:srgbClr val="4B6BFB"/>
      </a:accent1>
      <a:accent2>
        <a:srgbClr val="A21CAF"/>
      </a:accent2>
      <a:accent3>
        <a:srgbClr val="059669"/>
      </a:accent3>
      <a:accent4>
        <a:srgbClr val="D97706"/>
      </a:accent4>
      <a:accent5>
        <a:srgbClr val="0891B2"/>
      </a:accent5>
      <a:accent6>
        <a:srgbClr val="94A3B8"/>
      </a:accent6>
      <a:hlink>
        <a:srgbClr val="4B6BFB"/>
      </a:hlink>
      <a:folHlink>
        <a:srgbClr val="A21CAF"/>
      </a:folHlink>
    </a:clrScheme>
    <a:fontScheme name="TraceX Flows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Action 트랜잭션 흐름</dc:title>
  <dc:subject>PptxGenJS Presentation</dc:subject>
  <dc:creator>PptxGenJS</dc:creator>
  <cp:lastModifiedBy>PptxGenJS</cp:lastModifiedBy>
  <cp:revision>1</cp:revision>
  <dcterms:created xsi:type="dcterms:W3CDTF">2026-10-02T07:19:13Z</dcterms:created>
  <dcterms:modified xsi:type="dcterms:W3CDTF">2026-10-02T07:19:13Z</dcterms:modified>
</cp:coreProperties>
</file>